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Poppins"/>
      <p:bold r:id="rId28"/>
      <p:boldItalic r:id="rId29"/>
    </p:embeddedFont>
    <p:embeddedFont>
      <p:font typeface="Poppins Medium"/>
      <p:regular r:id="rId30"/>
      <p:bold r:id="rId31"/>
      <p:italic r:id="rId32"/>
      <p:boldItalic r:id="rId33"/>
    </p:embeddedFont>
    <p:embeddedFont>
      <p:font typeface="Poppins SemiBold"/>
      <p:regular r:id="rId34"/>
      <p:bold r:id="rId35"/>
      <p:italic r:id="rId36"/>
      <p:boldItalic r:id="rId37"/>
    </p:embeddedFont>
    <p:embeddedFont>
      <p:font typeface="Poppins ExtraBold"/>
      <p:bold r:id="rId38"/>
      <p:boldItalic r:id="rId39"/>
    </p:embeddedFont>
    <p:embeddedFont>
      <p:font typeface="Inter Medium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Medium-regular.fntdata"/><Relationship Id="rId20" Type="http://schemas.openxmlformats.org/officeDocument/2006/relationships/font" Target="fonts/InterSemiBold-regular.fntdata"/><Relationship Id="rId42" Type="http://schemas.openxmlformats.org/officeDocument/2006/relationships/font" Target="fonts/InterMedium-italic.fntdata"/><Relationship Id="rId41" Type="http://schemas.openxmlformats.org/officeDocument/2006/relationships/font" Target="fonts/InterMedium-bold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43" Type="http://schemas.openxmlformats.org/officeDocument/2006/relationships/font" Target="fonts/InterMedium-boldItalic.fntdata"/><Relationship Id="rId24" Type="http://schemas.openxmlformats.org/officeDocument/2006/relationships/font" Target="fonts/Inter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Poppins-bold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Medium-bold.fntdata"/><Relationship Id="rId30" Type="http://schemas.openxmlformats.org/officeDocument/2006/relationships/font" Target="fonts/PoppinsMedium-regular.fntdata"/><Relationship Id="rId11" Type="http://schemas.openxmlformats.org/officeDocument/2006/relationships/slide" Target="slides/slide6.xml"/><Relationship Id="rId33" Type="http://schemas.openxmlformats.org/officeDocument/2006/relationships/font" Target="fonts/PoppinsMedium-boldItalic.fntdata"/><Relationship Id="rId10" Type="http://schemas.openxmlformats.org/officeDocument/2006/relationships/slide" Target="slides/slide5.xml"/><Relationship Id="rId32" Type="http://schemas.openxmlformats.org/officeDocument/2006/relationships/font" Target="fonts/PoppinsMedium-italic.fntdata"/><Relationship Id="rId13" Type="http://schemas.openxmlformats.org/officeDocument/2006/relationships/slide" Target="slides/slide8.xml"/><Relationship Id="rId35" Type="http://schemas.openxmlformats.org/officeDocument/2006/relationships/font" Target="fonts/PoppinsSemiBold-bold.fntdata"/><Relationship Id="rId12" Type="http://schemas.openxmlformats.org/officeDocument/2006/relationships/slide" Target="slides/slide7.xml"/><Relationship Id="rId34" Type="http://schemas.openxmlformats.org/officeDocument/2006/relationships/font" Target="fonts/PoppinsSemiBold-regular.fntdata"/><Relationship Id="rId15" Type="http://schemas.openxmlformats.org/officeDocument/2006/relationships/slide" Target="slides/slide10.xml"/><Relationship Id="rId37" Type="http://schemas.openxmlformats.org/officeDocument/2006/relationships/font" Target="fonts/PoppinsSemiBold-boldItalic.fntdata"/><Relationship Id="rId14" Type="http://schemas.openxmlformats.org/officeDocument/2006/relationships/slide" Target="slides/slide9.xml"/><Relationship Id="rId36" Type="http://schemas.openxmlformats.org/officeDocument/2006/relationships/font" Target="fonts/PoppinsSemiBold-italic.fntdata"/><Relationship Id="rId17" Type="http://schemas.openxmlformats.org/officeDocument/2006/relationships/slide" Target="slides/slide12.xml"/><Relationship Id="rId39" Type="http://schemas.openxmlformats.org/officeDocument/2006/relationships/font" Target="fonts/PoppinsExtraBold-boldItalic.fntdata"/><Relationship Id="rId16" Type="http://schemas.openxmlformats.org/officeDocument/2006/relationships/slide" Target="slides/slide11.xml"/><Relationship Id="rId38" Type="http://schemas.openxmlformats.org/officeDocument/2006/relationships/font" Target="fonts/PoppinsExtraBold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f861a89df_39_10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ef861a89df_39_10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f861a89df_39_1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3ef861a89df_39_11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f861a89df_87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g3ef861a89df_87_1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9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2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9.png"/><Relationship Id="rId8" Type="http://schemas.openxmlformats.org/officeDocument/2006/relationships/image" Target="../media/image2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9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7.png"/><Relationship Id="rId7" Type="http://schemas.openxmlformats.org/officeDocument/2006/relationships/image" Target="../media/image9.png"/><Relationship Id="rId8" Type="http://schemas.openxmlformats.org/officeDocument/2006/relationships/image" Target="../media/image2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15.png"/><Relationship Id="rId7" Type="http://schemas.openxmlformats.org/officeDocument/2006/relationships/image" Target="../media/image9.png"/><Relationship Id="rId8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9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8.png"/><Relationship Id="rId7" Type="http://schemas.openxmlformats.org/officeDocument/2006/relationships/image" Target="../media/image9.png"/><Relationship Id="rId8" Type="http://schemas.openxmlformats.org/officeDocument/2006/relationships/image" Target="../media/image2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27.png"/><Relationship Id="rId8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952500" y="1714500"/>
            <a:ext cx="5143500" cy="3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PROGETTO FORMATIVO</a:t>
            </a:r>
            <a:endParaRPr b="0" sz="1200">
              <a:solidFill>
                <a:srgbClr val="38BDF8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6000">
                <a:solidFill>
                  <a:srgbClr val="F8FAFC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Percorso </a:t>
            </a:r>
            <a:r>
              <a:rPr b="0" lang="en-US" sz="6000">
                <a:solidFill>
                  <a:srgbClr val="38BDF8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FSL</a:t>
            </a:r>
            <a:endParaRPr b="0" sz="6000">
              <a:solidFill>
                <a:srgbClr val="F8FAFC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Formazione, Certificazioni e Opportunità per il futuro professionale</a:t>
            </a:r>
            <a:endParaRPr b="0"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858000" y="1619250"/>
            <a:ext cx="4381500" cy="3619500"/>
          </a:xfrm>
          <a:prstGeom prst="roundRect">
            <a:avLst>
              <a:gd fmla="val 5263" name="adj"/>
            </a:avLst>
          </a:prstGeom>
          <a:solidFill>
            <a:srgbClr val="13223F"/>
          </a:solidFill>
          <a:ln cap="flat" cmpd="sng" w="14300">
            <a:solidFill>
              <a:srgbClr val="2238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6858000" y="2000250"/>
            <a:ext cx="57300" cy="2857500"/>
          </a:xfrm>
          <a:prstGeom prst="roundRect">
            <a:avLst>
              <a:gd fmla="val 50000" name="adj"/>
            </a:avLst>
          </a:prstGeom>
          <a:solidFill>
            <a:srgbClr val="34D3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143750" y="1619250"/>
            <a:ext cx="3810000" cy="36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Presentato da</a:t>
            </a:r>
            <a:endParaRPr b="0" sz="1200">
              <a:solidFill>
                <a:srgbClr val="38BDF8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Luca Filippo</a:t>
            </a:r>
            <a:br>
              <a:rPr b="1" lang="en-US" sz="26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2600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Aiello</a:t>
            </a:r>
            <a:endParaRPr b="1" sz="2600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Classe 5D</a:t>
            </a:r>
            <a:endParaRPr b="0" sz="1600">
              <a:solidFill>
                <a:srgbClr val="F1F5F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Indirizzo Informatica</a:t>
            </a:r>
            <a:endParaRPr sz="13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ITST "Vittorio Emanuele III" – Palermo</a:t>
            </a:r>
            <a:endParaRPr b="0" sz="1200">
              <a:solidFill>
                <a:srgbClr val="64748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14"/>
          <p:cNvGrpSpPr/>
          <p:nvPr/>
        </p:nvGrpSpPr>
        <p:grpSpPr>
          <a:xfrm>
            <a:off x="762000" y="2095500"/>
            <a:ext cx="10668000" cy="3810000"/>
            <a:chOff x="762000" y="2095500"/>
            <a:chExt cx="10668000" cy="3810000"/>
          </a:xfrm>
        </p:grpSpPr>
        <p:sp>
          <p:nvSpPr>
            <p:cNvPr id="94" name="Google Shape;94;p14"/>
            <p:cNvSpPr/>
            <p:nvPr/>
          </p:nvSpPr>
          <p:spPr>
            <a:xfrm>
              <a:off x="762000" y="2095500"/>
              <a:ext cx="3238500" cy="3810000"/>
            </a:xfrm>
            <a:prstGeom prst="roundRect">
              <a:avLst>
                <a:gd fmla="val 4705" name="adj"/>
              </a:avLst>
            </a:prstGeom>
            <a:solidFill>
              <a:srgbClr val="13223F"/>
            </a:solidFill>
            <a:ln cap="flat" cmpd="sng" w="19050">
              <a:solidFill>
                <a:srgbClr val="2238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762000" y="2095500"/>
              <a:ext cx="3238500" cy="762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1047750" y="2428875"/>
              <a:ext cx="2667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38BDF8"/>
                  </a:solidFill>
                  <a:latin typeface="Poppins"/>
                  <a:ea typeface="Poppins"/>
                  <a:cs typeface="Poppins"/>
                  <a:sym typeface="Poppins"/>
                </a:rPr>
                <a:t>3° Anno</a:t>
              </a:r>
              <a:endParaRPr b="1" sz="20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A.S. 2023–2024</a:t>
              </a:r>
              <a:endParaRPr b="0" sz="1200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-307975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CBD5E1"/>
                </a:buClr>
                <a:buSzPts val="1250"/>
                <a:buFont typeface="Inter"/>
                <a:buChar char="●"/>
              </a:pPr>
              <a:r>
                <a:rPr lang="en-US" sz="12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IT Essentials </a:t>
              </a:r>
              <a:b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(Cisco)</a:t>
              </a:r>
              <a:endParaRPr sz="1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975" lvl="0" marL="457200" rtl="0" algn="l">
                <a:spcBef>
                  <a:spcPts val="1125"/>
                </a:spcBef>
                <a:spcAft>
                  <a:spcPts val="1125"/>
                </a:spcAft>
                <a:buClr>
                  <a:srgbClr val="CBD5E1"/>
                </a:buClr>
                <a:buSzPts val="1250"/>
                <a:buFont typeface="Inter"/>
                <a:buChar char="●"/>
              </a:pPr>
              <a:r>
                <a:rPr lang="en-US" sz="12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Educazione Finanziaria </a:t>
              </a:r>
              <a:b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(UniCredit)</a:t>
              </a:r>
              <a:endParaRPr sz="1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4476750" y="2095500"/>
              <a:ext cx="3238500" cy="3810000"/>
            </a:xfrm>
            <a:prstGeom prst="roundRect">
              <a:avLst>
                <a:gd fmla="val 4705" name="adj"/>
              </a:avLst>
            </a:prstGeom>
            <a:solidFill>
              <a:srgbClr val="13223F"/>
            </a:solidFill>
            <a:ln cap="flat" cmpd="sng" w="19050">
              <a:solidFill>
                <a:srgbClr val="2238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4476750" y="2095500"/>
              <a:ext cx="3238500" cy="76200"/>
            </a:xfrm>
            <a:prstGeom prst="roundRect">
              <a:avLst>
                <a:gd fmla="val 50000" name="adj"/>
              </a:avLst>
            </a:prstGeom>
            <a:solidFill>
              <a:srgbClr val="34D3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4762500" y="2428875"/>
              <a:ext cx="2667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34D399"/>
                  </a:solidFill>
                  <a:latin typeface="Poppins"/>
                  <a:ea typeface="Poppins"/>
                  <a:cs typeface="Poppins"/>
                  <a:sym typeface="Poppins"/>
                </a:rPr>
                <a:t>4° Anno</a:t>
              </a:r>
              <a:endParaRPr b="1" sz="2000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A.S. 2024–2025</a:t>
              </a:r>
              <a:endParaRPr b="0" sz="1200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-307975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CBD5E1"/>
                </a:buClr>
                <a:buSzPts val="1250"/>
                <a:buFont typeface="Inter"/>
                <a:buChar char="●"/>
              </a:pPr>
              <a:r>
                <a:rPr lang="en-US" sz="12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Sicurezza sul Lavoro</a:t>
              </a:r>
              <a:endParaRPr sz="1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975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CBD5E1"/>
                </a:buClr>
                <a:buSzPts val="1250"/>
                <a:buFont typeface="Inter"/>
                <a:buChar char="●"/>
              </a:pPr>
              <a:r>
                <a:rPr lang="en-US" sz="12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CCNA: Intro to Networks </a:t>
              </a:r>
              <a:b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(Cisco)</a:t>
              </a:r>
              <a:endParaRPr sz="1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7975" lvl="0" marL="457200" rtl="0" algn="l">
                <a:spcBef>
                  <a:spcPts val="1125"/>
                </a:spcBef>
                <a:spcAft>
                  <a:spcPts val="1125"/>
                </a:spcAft>
                <a:buClr>
                  <a:srgbClr val="CBD5E1"/>
                </a:buClr>
                <a:buSzPts val="1250"/>
                <a:buFont typeface="Inter"/>
                <a:buChar char="●"/>
              </a:pPr>
              <a:r>
                <a:rPr lang="en-US" sz="12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Educazione Sostenibilità </a:t>
              </a:r>
              <a:b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(UniCredit)</a:t>
              </a:r>
              <a:endParaRPr sz="1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8191500" y="2095500"/>
              <a:ext cx="3238500" cy="3810000"/>
            </a:xfrm>
            <a:prstGeom prst="roundRect">
              <a:avLst>
                <a:gd fmla="val 4705" name="adj"/>
              </a:avLst>
            </a:prstGeom>
            <a:solidFill>
              <a:srgbClr val="13223F"/>
            </a:solidFill>
            <a:ln cap="flat" cmpd="sng" w="19050">
              <a:solidFill>
                <a:srgbClr val="2238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8191500" y="2095500"/>
              <a:ext cx="3238500" cy="762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8477250" y="2428875"/>
              <a:ext cx="2667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38BDF8"/>
                  </a:solidFill>
                  <a:latin typeface="Poppins"/>
                  <a:ea typeface="Poppins"/>
                  <a:cs typeface="Poppins"/>
                  <a:sym typeface="Poppins"/>
                </a:rPr>
                <a:t>5° Anno</a:t>
              </a:r>
              <a:endParaRPr b="1" sz="20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A.S. 2025–2026</a:t>
              </a:r>
              <a:endParaRPr b="0" sz="1200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-307975" lvl="0" marL="457200" rtl="0" algn="l">
                <a:spcBef>
                  <a:spcPts val="1500"/>
                </a:spcBef>
                <a:spcAft>
                  <a:spcPts val="1125"/>
                </a:spcAft>
                <a:buClr>
                  <a:srgbClr val="CBD5E1"/>
                </a:buClr>
                <a:buSzPts val="1250"/>
                <a:buFont typeface="Inter"/>
                <a:buChar char="●"/>
              </a:pPr>
              <a:r>
                <a:rPr lang="en-US" sz="12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CCNA: Switching, Routing &amp; Wireless </a:t>
              </a:r>
              <a:b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(Cisco)</a:t>
              </a:r>
              <a:endParaRPr sz="1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03" name="Google Shape;103;p14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Il Percorso FSL in </a:t>
            </a:r>
            <a:r>
              <a:rPr b="0" i="0" lang="en-US" sz="33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Sintesi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571500" y="1333500"/>
            <a:ext cx="110490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62000" y="1714500"/>
            <a:ext cx="4381500" cy="37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Fase del Progetto</a:t>
            </a:r>
            <a:endParaRPr b="1" sz="13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6400">
                <a:solidFill>
                  <a:srgbClr val="F8FAFC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3° Anno</a:t>
            </a:r>
            <a:endParaRPr b="0" sz="6400">
              <a:solidFill>
                <a:srgbClr val="F8FAFC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34D3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A.S. 2023–2024</a:t>
            </a:r>
            <a:endParaRPr b="0" sz="2000">
              <a:solidFill>
                <a:srgbClr val="34D39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Classe 3D – Fondamenta digitali e cultura finanziaria</a:t>
            </a:r>
            <a:endParaRPr b="0" sz="15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1" name="Google Shape;111;p15"/>
          <p:cNvGrpSpPr/>
          <p:nvPr/>
        </p:nvGrpSpPr>
        <p:grpSpPr>
          <a:xfrm>
            <a:off x="5524500" y="1714500"/>
            <a:ext cx="5905500" cy="3714750"/>
            <a:chOff x="5524500" y="1714500"/>
            <a:chExt cx="5905500" cy="3714750"/>
          </a:xfrm>
        </p:grpSpPr>
        <p:sp>
          <p:nvSpPr>
            <p:cNvPr id="112" name="Google Shape;112;p15"/>
            <p:cNvSpPr/>
            <p:nvPr/>
          </p:nvSpPr>
          <p:spPr>
            <a:xfrm>
              <a:off x="5524500" y="1714500"/>
              <a:ext cx="5905500" cy="1714500"/>
            </a:xfrm>
            <a:prstGeom prst="roundRect">
              <a:avLst>
                <a:gd fmla="val 8888" name="adj"/>
              </a:avLst>
            </a:prstGeom>
            <a:solidFill>
              <a:srgbClr val="13223F"/>
            </a:solidFill>
            <a:ln cap="flat" cmpd="sng" w="14300">
              <a:solidFill>
                <a:srgbClr val="2238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5524500" y="2047875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5"/>
            <p:cNvSpPr txBox="1"/>
            <p:nvPr/>
          </p:nvSpPr>
          <p:spPr>
            <a:xfrm>
              <a:off x="5810250" y="1714500"/>
              <a:ext cx="5334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38BDF8"/>
                  </a:solidFill>
                  <a:latin typeface="Poppins"/>
                  <a:ea typeface="Poppins"/>
                  <a:cs typeface="Poppins"/>
                  <a:sym typeface="Poppins"/>
                </a:rPr>
                <a:t>Cisco Networking Academy</a:t>
              </a:r>
              <a:endParaRPr b="1" sz="105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IT Essentials</a:t>
              </a:r>
              <a:endParaRPr b="1" sz="24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Percorso formativo hardware e software • Conseguito nel Maggio 2024 • 70 ore</a:t>
              </a:r>
              <a:endParaRPr b="0"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5524500" y="3714750"/>
              <a:ext cx="5905500" cy="1714500"/>
            </a:xfrm>
            <a:prstGeom prst="roundRect">
              <a:avLst>
                <a:gd fmla="val 8888" name="adj"/>
              </a:avLst>
            </a:prstGeom>
            <a:solidFill>
              <a:srgbClr val="13223F"/>
            </a:solidFill>
            <a:ln cap="flat" cmpd="sng" w="14300">
              <a:solidFill>
                <a:srgbClr val="2238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5524500" y="4048125"/>
              <a:ext cx="57300" cy="10479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5"/>
            <p:cNvSpPr txBox="1"/>
            <p:nvPr/>
          </p:nvSpPr>
          <p:spPr>
            <a:xfrm>
              <a:off x="5810250" y="3714750"/>
              <a:ext cx="5334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EF4444"/>
                  </a:solidFill>
                  <a:latin typeface="Poppins"/>
                  <a:ea typeface="Poppins"/>
                  <a:cs typeface="Poppins"/>
                  <a:sym typeface="Poppins"/>
                </a:rPr>
                <a:t>Startup Your Life – UniCredit</a:t>
              </a:r>
              <a:endParaRPr b="1" sz="1050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Educazione Finanziaria</a:t>
              </a:r>
              <a:endParaRPr b="1" sz="24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Competenze finanziarie e imprenditoriali • Attestato di partecipazione • 60 ore</a:t>
              </a:r>
              <a:endParaRPr b="0"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16459"/>
            <a:ext cx="5238750" cy="177537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3929955"/>
            <a:ext cx="5500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Competenze acquisite: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66775" y="2979390"/>
            <a:ext cx="4648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Cisco Networking Academy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22145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904875" y="4434780"/>
            <a:ext cx="4905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Installazione e manutenzione di personal computer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04875" y="4851945"/>
            <a:ext cx="4905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Procedure di laboratorio sicure e troubleshooting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04875" y="5269110"/>
            <a:ext cx="4905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Installazione e gestione di sistemi operativi Windows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04875" y="5686276"/>
            <a:ext cx="4905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Configurazione di dispositivi di rete locale (LAN)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0125" y="23479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1581150" y="2211734"/>
            <a:ext cx="1980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IT Essentials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581150" y="2545100"/>
            <a:ext cx="2990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Conseguito: Maggio 2024 </a:t>
            </a: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 70 ore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7764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94808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311973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729138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Certificato Cisco </a:t>
            </a:r>
            <a:r>
              <a:rPr b="0" i="0" lang="en-US" sz="33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NetAcad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1333500"/>
            <a:ext cx="110490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6" title="cisco_it_essentials.jpg"/>
          <p:cNvPicPr preferRelativeResize="0"/>
          <p:nvPr/>
        </p:nvPicPr>
        <p:blipFill rotWithShape="1">
          <a:blip r:embed="rId8">
            <a:alphaModFix/>
          </a:blip>
          <a:srcRect b="0" l="2144" r="2135" t="0"/>
          <a:stretch/>
        </p:blipFill>
        <p:spPr>
          <a:xfrm>
            <a:off x="5935928" y="1916450"/>
            <a:ext cx="5892516" cy="416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94617" y="76198"/>
            <a:ext cx="3978331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71500" y="3929955"/>
            <a:ext cx="55006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Competenze acquisite: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904875" y="443478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Gestione delle finanze personali e investimenti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904875" y="4851945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Strumenti bancari e gestione del debito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904875" y="526911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Team working, comunicazione e time management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904875" y="5686276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Pensiero critico, creatività e problem solving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" name="Google Shape;152;p17"/>
          <p:cNvGrpSpPr/>
          <p:nvPr/>
        </p:nvGrpSpPr>
        <p:grpSpPr>
          <a:xfrm>
            <a:off x="571500" y="1916459"/>
            <a:ext cx="5238750" cy="1775370"/>
            <a:chOff x="571500" y="1916459"/>
            <a:chExt cx="5238750" cy="1775370"/>
          </a:xfrm>
        </p:grpSpPr>
        <p:pic>
          <p:nvPicPr>
            <p:cNvPr descr="image.png" id="153" name="Google Shape;153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1500" y="1916459"/>
              <a:ext cx="5238750" cy="17753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17"/>
            <p:cNvSpPr txBox="1"/>
            <p:nvPr/>
          </p:nvSpPr>
          <p:spPr>
            <a:xfrm>
              <a:off x="866775" y="2979390"/>
              <a:ext cx="4648200" cy="274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Startup Your Life – UniCredit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image.png" id="155" name="Google Shape;155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66775" y="2214562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56" name="Google Shape;156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00125" y="2347912"/>
              <a:ext cx="3048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17"/>
            <p:cNvSpPr txBox="1"/>
            <p:nvPr/>
          </p:nvSpPr>
          <p:spPr>
            <a:xfrm>
              <a:off x="1581150" y="2211734"/>
              <a:ext cx="2830353" cy="33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Educazione Finanziaria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7"/>
            <p:cNvSpPr txBox="1"/>
            <p:nvPr/>
          </p:nvSpPr>
          <p:spPr>
            <a:xfrm>
              <a:off x="1581150" y="2545109"/>
              <a:ext cx="2695575" cy="243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A.S. 2023–2024 • 60 ore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image.png" id="159" name="Google Shape;15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7764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94808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311973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729138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Attestato di Partecipazione </a:t>
            </a:r>
            <a:r>
              <a:rPr b="0" i="0" lang="en-US" sz="3300" u="none" cap="none" strike="noStrike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FSL</a:t>
            </a:r>
            <a:endParaRPr b="0" i="0" sz="1400" u="none" cap="none" strike="noStrike">
              <a:solidFill>
                <a:srgbClr val="EF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571500" y="1333500"/>
            <a:ext cx="11049000" cy="190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7" title="document.jp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72178" y="1719275"/>
            <a:ext cx="5923258" cy="419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762000" y="1714500"/>
            <a:ext cx="4381500" cy="371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Fase del Progetto</a:t>
            </a:r>
            <a:endParaRPr b="1" sz="13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6400">
                <a:solidFill>
                  <a:srgbClr val="F8FAFC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4° Anno</a:t>
            </a:r>
            <a:endParaRPr b="1" sz="13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34D3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A.S. 2024–2025</a:t>
            </a:r>
            <a:endParaRPr b="1" sz="13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Classe 4D – Sicurezza, reti e sostenibilità</a:t>
            </a:r>
            <a:endParaRPr b="1" sz="13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2" name="Google Shape;172;p18"/>
          <p:cNvGrpSpPr/>
          <p:nvPr/>
        </p:nvGrpSpPr>
        <p:grpSpPr>
          <a:xfrm>
            <a:off x="5524500" y="1428750"/>
            <a:ext cx="5905500" cy="4667400"/>
            <a:chOff x="5524500" y="1428750"/>
            <a:chExt cx="5905500" cy="4667400"/>
          </a:xfrm>
        </p:grpSpPr>
        <p:sp>
          <p:nvSpPr>
            <p:cNvPr id="173" name="Google Shape;173;p18"/>
            <p:cNvSpPr/>
            <p:nvPr/>
          </p:nvSpPr>
          <p:spPr>
            <a:xfrm>
              <a:off x="5524500" y="1428750"/>
              <a:ext cx="5905500" cy="1428900"/>
            </a:xfrm>
            <a:prstGeom prst="roundRect">
              <a:avLst>
                <a:gd fmla="val 10666" name="adj"/>
              </a:avLst>
            </a:prstGeom>
            <a:solidFill>
              <a:srgbClr val="13223F"/>
            </a:solidFill>
            <a:ln cap="flat" cmpd="sng" w="14300">
              <a:solidFill>
                <a:srgbClr val="2238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8"/>
            <p:cNvSpPr/>
            <p:nvPr/>
          </p:nvSpPr>
          <p:spPr>
            <a:xfrm>
              <a:off x="5524500" y="1714500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8"/>
            <p:cNvSpPr txBox="1"/>
            <p:nvPr/>
          </p:nvSpPr>
          <p:spPr>
            <a:xfrm>
              <a:off x="5810250" y="1428750"/>
              <a:ext cx="5334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38BDF8"/>
                  </a:solidFill>
                  <a:latin typeface="Poppins"/>
                  <a:ea typeface="Poppins"/>
                  <a:cs typeface="Poppins"/>
                  <a:sym typeface="Poppins"/>
                </a:rPr>
                <a:t>Cisco Networking Academy</a:t>
              </a:r>
              <a:endParaRPr b="1" sz="105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CCNA: Introduction to Networks</a:t>
              </a:r>
              <a:endParaRPr b="1" sz="105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Introduzione alle reti, architetture, protocolli e configurazione • 70 ore</a:t>
              </a:r>
              <a:endParaRPr b="1" sz="105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5524500" y="3048000"/>
              <a:ext cx="5905500" cy="1428900"/>
            </a:xfrm>
            <a:prstGeom prst="roundRect">
              <a:avLst>
                <a:gd fmla="val 10666" name="adj"/>
              </a:avLst>
            </a:prstGeom>
            <a:solidFill>
              <a:srgbClr val="13223F"/>
            </a:solidFill>
            <a:ln cap="flat" cmpd="sng" w="14300">
              <a:solidFill>
                <a:srgbClr val="2238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5524500" y="3333750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8"/>
            <p:cNvSpPr txBox="1"/>
            <p:nvPr/>
          </p:nvSpPr>
          <p:spPr>
            <a:xfrm>
              <a:off x="5810250" y="3048000"/>
              <a:ext cx="5334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EF4444"/>
                  </a:solidFill>
                  <a:latin typeface="Poppins"/>
                  <a:ea typeface="Poppins"/>
                  <a:cs typeface="Poppins"/>
                  <a:sym typeface="Poppins"/>
                </a:rPr>
                <a:t>Cultura Ecologica e PCTO</a:t>
              </a:r>
              <a:endParaRPr b="1" sz="1050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Educazione alla Sostenibilità</a:t>
              </a:r>
              <a:endParaRPr b="1" sz="1050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Competenze di sostenibilità ecologica, transizione energetica e ambiente</a:t>
              </a:r>
              <a:endParaRPr b="1" sz="1050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5524500" y="4667250"/>
              <a:ext cx="5905500" cy="1428900"/>
            </a:xfrm>
            <a:prstGeom prst="roundRect">
              <a:avLst>
                <a:gd fmla="val 10666" name="adj"/>
              </a:avLst>
            </a:prstGeom>
            <a:solidFill>
              <a:srgbClr val="13223F"/>
            </a:solidFill>
            <a:ln cap="flat" cmpd="sng" w="14300">
              <a:solidFill>
                <a:srgbClr val="2238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5524500" y="4953000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8"/>
            <p:cNvSpPr txBox="1"/>
            <p:nvPr/>
          </p:nvSpPr>
          <p:spPr>
            <a:xfrm>
              <a:off x="5810250" y="4667250"/>
              <a:ext cx="5334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F59E0B"/>
                  </a:solidFill>
                  <a:latin typeface="Poppins"/>
                  <a:ea typeface="Poppins"/>
                  <a:cs typeface="Poppins"/>
                  <a:sym typeface="Poppins"/>
                </a:rPr>
                <a:t>Formazione Generale (D.Lgs. 81/2008)</a:t>
              </a:r>
              <a:endParaRPr b="1" sz="1050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Sicurezza sul Lavoro</a:t>
              </a:r>
              <a:endParaRPr b="1" sz="1050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Prevenzione dei rischi nei luoghi di lavoro e normative di sicurezza • 4 ore</a:t>
              </a:r>
              <a:endParaRPr b="1" sz="1050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/>
          <p:nvPr/>
        </p:nvSpPr>
        <p:spPr>
          <a:xfrm>
            <a:off x="5619750" y="2373659"/>
            <a:ext cx="9525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4665821" y="2811809"/>
            <a:ext cx="2860357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50"/>
              <a:buFont typeface="Arial"/>
              <a:buNone/>
            </a:pPr>
            <a:r>
              <a:rPr b="1" i="0" lang="en-US" sz="52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4° Anno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4081462" y="4011959"/>
            <a:ext cx="4029075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A.S. 2024–2025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Classe 4D – Sicurezza, reti e sostenibilità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571500" y="3929955"/>
            <a:ext cx="55006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Competenze acquisite: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904875" y="443478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Normativa sicurezza D.Lgs. 81/2008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904875" y="4851945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Prevenzione rischi in ambienti lavorativi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904875" y="526911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Procedure di emergenza e primo soccorso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904875" y="5686276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Uso corretto dei dispositivi di protezione individuale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0" name="Google Shape;200;p20"/>
          <p:cNvGrpSpPr/>
          <p:nvPr/>
        </p:nvGrpSpPr>
        <p:grpSpPr>
          <a:xfrm>
            <a:off x="571500" y="1916459"/>
            <a:ext cx="5238750" cy="1775370"/>
            <a:chOff x="571500" y="1916459"/>
            <a:chExt cx="5238750" cy="1775370"/>
          </a:xfrm>
        </p:grpSpPr>
        <p:pic>
          <p:nvPicPr>
            <p:cNvPr descr="image.png" id="201" name="Google Shape;201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1500" y="1916459"/>
              <a:ext cx="5238750" cy="17753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20"/>
            <p:cNvSpPr txBox="1"/>
            <p:nvPr/>
          </p:nvSpPr>
          <p:spPr>
            <a:xfrm>
              <a:off x="866775" y="2979390"/>
              <a:ext cx="4648200" cy="274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Formazione Sicurezza Generale (D.Lgs. 81/2008)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image.png" id="203" name="Google Shape;203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66775" y="2214562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04" name="Google Shape;204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81075" y="2347912"/>
              <a:ext cx="3429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20"/>
            <p:cNvSpPr txBox="1"/>
            <p:nvPr/>
          </p:nvSpPr>
          <p:spPr>
            <a:xfrm>
              <a:off x="1581150" y="2211734"/>
              <a:ext cx="2470308" cy="33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Sicurezza sul Lavoro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0"/>
            <p:cNvSpPr txBox="1"/>
            <p:nvPr/>
          </p:nvSpPr>
          <p:spPr>
            <a:xfrm>
              <a:off x="1581150" y="2545100"/>
              <a:ext cx="29910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Conseguito: Dicembre 2024 • 4 ore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image.png" id="207" name="Google Shape;20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7764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94808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311973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729138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Attestato </a:t>
            </a:r>
            <a:r>
              <a:rPr b="0" i="0" lang="en-US" sz="3300" u="none" cap="none" strike="noStrik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Sicurezza sul Lavoro</a:t>
            </a:r>
            <a:endParaRPr b="0" i="0" sz="1400" u="none" cap="none" strike="noStrike">
              <a:solidFill>
                <a:srgbClr val="FBBF2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571500" y="1333500"/>
            <a:ext cx="6666900" cy="183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20" title="Attestato_di_Sicurezza_generale.jp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30400" y="276375"/>
            <a:ext cx="4461125" cy="630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571500" y="3929955"/>
            <a:ext cx="55006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Competenze acquisite: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904875" y="443478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Fondamenti di networking e modello OSI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904875" y="4851945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Configurazione di router e switch Cisco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904875" y="526911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Protocolli TCP/IP, IPv4 e IPv6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904875" y="5686276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Sicurezza di base delle reti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4" name="Google Shape;224;p21"/>
          <p:cNvGrpSpPr/>
          <p:nvPr/>
        </p:nvGrpSpPr>
        <p:grpSpPr>
          <a:xfrm>
            <a:off x="571500" y="1916450"/>
            <a:ext cx="4943475" cy="1775375"/>
            <a:chOff x="571500" y="1916450"/>
            <a:chExt cx="4943475" cy="1775375"/>
          </a:xfrm>
        </p:grpSpPr>
        <p:pic>
          <p:nvPicPr>
            <p:cNvPr descr="image.png" id="225" name="Google Shape;225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1500" y="1916450"/>
              <a:ext cx="4905374" cy="1775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21"/>
            <p:cNvSpPr txBox="1"/>
            <p:nvPr/>
          </p:nvSpPr>
          <p:spPr>
            <a:xfrm>
              <a:off x="866775" y="2979390"/>
              <a:ext cx="4648200" cy="274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Cisco Networking Academy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image.png" id="227" name="Google Shape;227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66775" y="2214562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28" name="Google Shape;228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62025" y="2347912"/>
              <a:ext cx="3810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21"/>
            <p:cNvSpPr txBox="1"/>
            <p:nvPr/>
          </p:nvSpPr>
          <p:spPr>
            <a:xfrm>
              <a:off x="1581150" y="2211734"/>
              <a:ext cx="3890486" cy="33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CCNA: Introduction to Networks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1"/>
            <p:cNvSpPr txBox="1"/>
            <p:nvPr/>
          </p:nvSpPr>
          <p:spPr>
            <a:xfrm>
              <a:off x="1581150" y="2545109"/>
              <a:ext cx="37053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Conseguito: 15 Maggio 2025 • 70 ore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image.png" id="231" name="Google Shape;23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7764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94808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311973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729138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Certificato Cisco </a:t>
            </a:r>
            <a:r>
              <a:rPr b="0" i="0" lang="en-US" sz="33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NetAcad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571500" y="133350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21" title="_certificate_lucaaiello446-gmail-com_cf57948f-7566-4f5f-a422-7d62d541a435 (1).jp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19749" y="1932713"/>
            <a:ext cx="6449853" cy="4429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94617" y="76198"/>
            <a:ext cx="3978331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571500" y="3929955"/>
            <a:ext cx="55006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Competenze acquisite: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904875" y="443478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sostenibilità in azienda e bilancio ESG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904875" y="4851945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Impatto ambientale e sociale delle imprese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904875" y="5269110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Analisi di casi studio su responsabilità d'impresa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904875" y="5686276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Orientamento al futuro sostenibile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9" name="Google Shape;249;p22"/>
          <p:cNvGrpSpPr/>
          <p:nvPr/>
        </p:nvGrpSpPr>
        <p:grpSpPr>
          <a:xfrm>
            <a:off x="571500" y="1916459"/>
            <a:ext cx="5238750" cy="1775370"/>
            <a:chOff x="571500" y="1916459"/>
            <a:chExt cx="5238750" cy="1775370"/>
          </a:xfrm>
        </p:grpSpPr>
        <p:pic>
          <p:nvPicPr>
            <p:cNvPr descr="image.png" id="250" name="Google Shape;25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1500" y="1916459"/>
              <a:ext cx="5238750" cy="17753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" name="Google Shape;251;p22"/>
            <p:cNvSpPr txBox="1"/>
            <p:nvPr/>
          </p:nvSpPr>
          <p:spPr>
            <a:xfrm>
              <a:off x="866775" y="2979390"/>
              <a:ext cx="4648200" cy="274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b="0" i="0" lang="en-US" sz="135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Startup Your Life – UniCredit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image.png" id="252" name="Google Shape;252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66775" y="2214562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253" name="Google Shape;253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00125" y="2347912"/>
              <a:ext cx="3048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2"/>
            <p:cNvSpPr txBox="1"/>
            <p:nvPr/>
          </p:nvSpPr>
          <p:spPr>
            <a:xfrm>
              <a:off x="1581150" y="2211734"/>
              <a:ext cx="3520440" cy="33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8FAFC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Educazione alla Sostenibilità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2"/>
            <p:cNvSpPr txBox="1"/>
            <p:nvPr/>
          </p:nvSpPr>
          <p:spPr>
            <a:xfrm>
              <a:off x="1581150" y="2545109"/>
              <a:ext cx="3352800" cy="243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A.S. 2024–2025 • 14 ore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image.png" id="256" name="Google Shape;25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7764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94808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311973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729138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 txBox="1"/>
          <p:nvPr/>
        </p:nvSpPr>
        <p:spPr>
          <a:xfrm>
            <a:off x="571500" y="57150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Attestato di Partecipazione </a:t>
            </a:r>
            <a:r>
              <a:rPr b="0" i="0" lang="en-US" sz="3300" u="none" cap="none" strike="noStrike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FSL</a:t>
            </a:r>
            <a:endParaRPr b="0" i="0" sz="1400" u="none" cap="none" strike="noStrike">
              <a:solidFill>
                <a:srgbClr val="EF44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571500" y="1333500"/>
            <a:ext cx="11049000" cy="190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22" title="document.jp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19253" y="1948488"/>
            <a:ext cx="6045371" cy="4277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3"/>
          <p:cNvSpPr/>
          <p:nvPr/>
        </p:nvSpPr>
        <p:spPr>
          <a:xfrm>
            <a:off x="5619750" y="2373659"/>
            <a:ext cx="9525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4675822" y="2811809"/>
            <a:ext cx="2840355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50"/>
              <a:buFont typeface="Arial"/>
              <a:buNone/>
            </a:pPr>
            <a:r>
              <a:rPr b="1" i="0" lang="en-US" sz="525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5° Anno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3"/>
          <p:cNvSpPr txBox="1"/>
          <p:nvPr/>
        </p:nvSpPr>
        <p:spPr>
          <a:xfrm>
            <a:off x="3505200" y="4011959"/>
            <a:ext cx="518160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A.S. 2025–2026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Classe 5D – Specializzazione avanzata in networking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4"/>
          <p:cNvSpPr txBox="1"/>
          <p:nvPr/>
        </p:nvSpPr>
        <p:spPr>
          <a:xfrm>
            <a:off x="762000" y="1714500"/>
            <a:ext cx="4381500" cy="371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Fase del Progetto</a:t>
            </a:r>
            <a:endParaRPr b="1" sz="13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6400">
                <a:solidFill>
                  <a:srgbClr val="F8FAFC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5° Anno</a:t>
            </a:r>
            <a:endParaRPr b="1" sz="13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34D39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A.S. 2025–2026</a:t>
            </a:r>
            <a:endParaRPr b="1" sz="13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Classe 5D – Specializzazione avanzata in networking</a:t>
            </a:r>
            <a:endParaRPr b="1" sz="1300">
              <a:solidFill>
                <a:srgbClr val="38BDF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77" name="Google Shape;277;p24"/>
          <p:cNvGrpSpPr/>
          <p:nvPr/>
        </p:nvGrpSpPr>
        <p:grpSpPr>
          <a:xfrm>
            <a:off x="5524500" y="2000250"/>
            <a:ext cx="5905500" cy="2857500"/>
            <a:chOff x="5524500" y="2000250"/>
            <a:chExt cx="5905500" cy="2857500"/>
          </a:xfrm>
        </p:grpSpPr>
        <p:sp>
          <p:nvSpPr>
            <p:cNvPr id="278" name="Google Shape;278;p24"/>
            <p:cNvSpPr/>
            <p:nvPr/>
          </p:nvSpPr>
          <p:spPr>
            <a:xfrm>
              <a:off x="5524500" y="2000250"/>
              <a:ext cx="5905500" cy="2857500"/>
            </a:xfrm>
            <a:prstGeom prst="roundRect">
              <a:avLst>
                <a:gd fmla="val 5333" name="adj"/>
              </a:avLst>
            </a:prstGeom>
            <a:solidFill>
              <a:srgbClr val="13223F"/>
            </a:solidFill>
            <a:ln cap="flat" cmpd="sng" w="14300">
              <a:solidFill>
                <a:srgbClr val="22385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4"/>
            <p:cNvSpPr/>
            <p:nvPr/>
          </p:nvSpPr>
          <p:spPr>
            <a:xfrm>
              <a:off x="5524500" y="2286000"/>
              <a:ext cx="57300" cy="22860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4"/>
            <p:cNvSpPr txBox="1"/>
            <p:nvPr/>
          </p:nvSpPr>
          <p:spPr>
            <a:xfrm>
              <a:off x="5810250" y="2000250"/>
              <a:ext cx="53340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8BDF8"/>
                  </a:solidFill>
                  <a:latin typeface="Poppins"/>
                  <a:ea typeface="Poppins"/>
                  <a:cs typeface="Poppins"/>
                  <a:sym typeface="Poppins"/>
                </a:rPr>
                <a:t>Cisco Networking Academy</a:t>
              </a:r>
              <a:endParaRPr b="1" sz="11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8FAFC"/>
                  </a:solidFill>
                  <a:latin typeface="Poppins"/>
                  <a:ea typeface="Poppins"/>
                  <a:cs typeface="Poppins"/>
                  <a:sym typeface="Poppins"/>
                </a:rPr>
                <a:t>CCNA: Switching, Routing &amp; Wireless</a:t>
              </a:r>
              <a:endParaRPr b="1" sz="11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Configurazione avanzata di switch (VLANs, STP), routing statico e dinamico (OSPF, EIGRP), reti wireless standard IEEE 802.11, sicurezza e troubleshooting di rete • 70 ore</a:t>
              </a:r>
              <a:endParaRPr b="1" sz="110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19275"/>
            <a:ext cx="4905374" cy="17697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571500" y="3927127"/>
            <a:ext cx="55006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Competenze acquisite: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5"/>
          <p:cNvSpPr txBox="1"/>
          <p:nvPr/>
        </p:nvSpPr>
        <p:spPr>
          <a:xfrm>
            <a:off x="866775" y="2976562"/>
            <a:ext cx="46482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Cisco Networking Academy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9" name="Google Shape;28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22145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 txBox="1"/>
          <p:nvPr/>
        </p:nvSpPr>
        <p:spPr>
          <a:xfrm>
            <a:off x="904875" y="4431952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Configurazione avanzata di switch (VLANs, STP)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5"/>
          <p:cNvSpPr txBox="1"/>
          <p:nvPr/>
        </p:nvSpPr>
        <p:spPr>
          <a:xfrm>
            <a:off x="904875" y="4849117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Routing statico e dinamico (OSPF, EIGRP)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5"/>
          <p:cNvSpPr txBox="1"/>
          <p:nvPr/>
        </p:nvSpPr>
        <p:spPr>
          <a:xfrm>
            <a:off x="904875" y="5266283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Reti wireless standard IEEE 802.11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5"/>
          <p:cNvSpPr txBox="1"/>
          <p:nvPr/>
        </p:nvSpPr>
        <p:spPr>
          <a:xfrm>
            <a:off x="904875" y="5683448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Sicurezza e troubleshooting avanzato di rete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94" name="Google Shape;29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347912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5"/>
          <p:cNvSpPr txBox="1"/>
          <p:nvPr/>
        </p:nvSpPr>
        <p:spPr>
          <a:xfrm>
            <a:off x="1581150" y="2235547"/>
            <a:ext cx="371046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CCNA: Switching, Routing &amp; Wireless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5"/>
          <p:cNvSpPr txBox="1"/>
          <p:nvPr/>
        </p:nvSpPr>
        <p:spPr>
          <a:xfrm>
            <a:off x="1581150" y="2521297"/>
            <a:ext cx="35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Conseguito: 3 Giugno 2026 • 70 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97" name="Google Shape;29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7481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9198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30914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726310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5"/>
          <p:cNvSpPr txBox="1"/>
          <p:nvPr/>
        </p:nvSpPr>
        <p:spPr>
          <a:xfrm>
            <a:off x="571500" y="571500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Certificato Cisco </a:t>
            </a:r>
            <a:r>
              <a:rPr b="0" i="0" lang="en-US" sz="33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NetAcad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571500" y="133350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3" name="Google Shape;303;p25" title="CCNA-_Switching-_Routing-_and_Wireless_Essentials_certificate_lucaaiello446-gmail-com_056c01e0-0f17-4297-b17c-f5f6293d6111.jp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25196" y="1895038"/>
            <a:ext cx="6462702" cy="4378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94617" y="76198"/>
            <a:ext cx="3978331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9" name="Google Shape;30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0" name="Google Shape;310;p26"/>
          <p:cNvGrpSpPr/>
          <p:nvPr/>
        </p:nvGrpSpPr>
        <p:grpSpPr>
          <a:xfrm>
            <a:off x="571500" y="1151355"/>
            <a:ext cx="5238750" cy="4152900"/>
            <a:chOff x="571500" y="1052512"/>
            <a:chExt cx="5238750" cy="4152900"/>
          </a:xfrm>
        </p:grpSpPr>
        <p:pic>
          <p:nvPicPr>
            <p:cNvPr descr="image.png" id="311" name="Google Shape;311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1500" y="1052512"/>
              <a:ext cx="5238750" cy="1257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312" name="Google Shape;312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1500" y="2500312"/>
              <a:ext cx="5238750" cy="1257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313" name="Google Shape;313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71500" y="3948112"/>
              <a:ext cx="5238750" cy="12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" name="Google Shape;314;p26"/>
            <p:cNvSpPr txBox="1"/>
            <p:nvPr/>
          </p:nvSpPr>
          <p:spPr>
            <a:xfrm>
              <a:off x="866775" y="1347787"/>
              <a:ext cx="952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50"/>
                <a:buFont typeface="Arial"/>
                <a:buNone/>
              </a:pPr>
              <a:r>
                <a:rPr b="1" i="0" lang="en-US" sz="5250" u="none" cap="none" strike="noStrike">
                  <a:solidFill>
                    <a:srgbClr val="38BDF8"/>
                  </a:solidFill>
                  <a:latin typeface="Poppins"/>
                  <a:ea typeface="Poppins"/>
                  <a:cs typeface="Poppins"/>
                  <a:sym typeface="Poppins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6"/>
            <p:cNvSpPr txBox="1"/>
            <p:nvPr/>
          </p:nvSpPr>
          <p:spPr>
            <a:xfrm>
              <a:off x="2162625" y="1454163"/>
              <a:ext cx="29586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50"/>
                <a:buFont typeface="Arial"/>
                <a:buNone/>
              </a:pPr>
              <a:r>
                <a:rPr b="0" i="0" lang="en-US" sz="1650" u="none" cap="none" strike="noStrike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Certificati</a:t>
              </a:r>
              <a:b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650" u="none" cap="none" strike="noStrike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conseguiti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6"/>
            <p:cNvSpPr txBox="1"/>
            <p:nvPr/>
          </p:nvSpPr>
          <p:spPr>
            <a:xfrm>
              <a:off x="660825" y="2724850"/>
              <a:ext cx="1501800" cy="8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50"/>
                <a:buFont typeface="Arial"/>
                <a:buNone/>
              </a:pPr>
              <a:r>
                <a:rPr b="1" i="0" lang="en-US" sz="5250" u="none" cap="none" strike="noStrike">
                  <a:solidFill>
                    <a:srgbClr val="34D399"/>
                  </a:solidFill>
                  <a:latin typeface="Poppins"/>
                  <a:ea typeface="Poppins"/>
                  <a:cs typeface="Poppins"/>
                  <a:sym typeface="Poppins"/>
                </a:rPr>
                <a:t>288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6"/>
            <p:cNvSpPr txBox="1"/>
            <p:nvPr/>
          </p:nvSpPr>
          <p:spPr>
            <a:xfrm>
              <a:off x="2162625" y="2875000"/>
              <a:ext cx="18087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50"/>
                <a:buFont typeface="Arial"/>
                <a:buNone/>
              </a:pPr>
              <a:r>
                <a:rPr b="0" i="0" lang="en-US" sz="1650" u="none" cap="none" strike="noStrike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Ore di</a:t>
              </a:r>
              <a:br>
                <a:rPr b="0" i="0" lang="en-US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650" u="none" cap="none" strike="noStrike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formazione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6"/>
            <p:cNvSpPr txBox="1"/>
            <p:nvPr/>
          </p:nvSpPr>
          <p:spPr>
            <a:xfrm>
              <a:off x="866775" y="4243375"/>
              <a:ext cx="952500" cy="8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50"/>
                <a:buFont typeface="Arial"/>
                <a:buNone/>
              </a:pPr>
              <a:r>
                <a:rPr b="1" i="0" lang="en-US" sz="5250" u="none" cap="none" strike="noStrike">
                  <a:solidFill>
                    <a:srgbClr val="F472B6"/>
                  </a:solidFill>
                  <a:latin typeface="Poppins"/>
                  <a:ea typeface="Poppins"/>
                  <a:cs typeface="Poppins"/>
                  <a:sym typeface="Poppins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6"/>
            <p:cNvSpPr txBox="1"/>
            <p:nvPr/>
          </p:nvSpPr>
          <p:spPr>
            <a:xfrm>
              <a:off x="2162625" y="4295825"/>
              <a:ext cx="1737600" cy="5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50"/>
                <a:buFont typeface="Arial"/>
                <a:buNone/>
              </a:pPr>
              <a:r>
                <a:rPr b="0" i="0" lang="en-US" sz="1650" u="none" cap="none" strike="noStrike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Anni di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50"/>
                <a:buFont typeface="Arial"/>
                <a:buNone/>
              </a:pPr>
              <a:r>
                <a:rPr b="0" i="0" lang="en-US" sz="1650" u="none" cap="none" strike="noStrike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percorso FSL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0" name="Google Shape;320;p26"/>
          <p:cNvGrpSpPr/>
          <p:nvPr/>
        </p:nvGrpSpPr>
        <p:grpSpPr>
          <a:xfrm>
            <a:off x="6381750" y="1151355"/>
            <a:ext cx="5238750" cy="5515000"/>
            <a:chOff x="6381750" y="1052499"/>
            <a:chExt cx="5238750" cy="5515000"/>
          </a:xfrm>
        </p:grpSpPr>
        <p:pic>
          <p:nvPicPr>
            <p:cNvPr descr="image.png" id="321" name="Google Shape;321;p2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381750" y="1052499"/>
              <a:ext cx="5238750" cy="551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6"/>
            <p:cNvSpPr txBox="1"/>
            <p:nvPr/>
          </p:nvSpPr>
          <p:spPr>
            <a:xfrm>
              <a:off x="6772275" y="1443037"/>
              <a:ext cx="4680585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34D399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Cosa mi ha offerto la scuola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6"/>
            <p:cNvSpPr txBox="1"/>
            <p:nvPr/>
          </p:nvSpPr>
          <p:spPr>
            <a:xfrm>
              <a:off x="7105650" y="2081212"/>
              <a:ext cx="41243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Certificazioni Cisco riconosciute a livello internazionale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6"/>
            <p:cNvSpPr txBox="1"/>
            <p:nvPr/>
          </p:nvSpPr>
          <p:spPr>
            <a:xfrm>
              <a:off x="7105650" y="2881312"/>
              <a:ext cx="41243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Formazione sulla sicurezza sul lavoro obbligatoria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6"/>
            <p:cNvSpPr txBox="1"/>
            <p:nvPr/>
          </p:nvSpPr>
          <p:spPr>
            <a:xfrm>
              <a:off x="7105650" y="3681412"/>
              <a:ext cx="4124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Percorsi UniCredit su finanza e sostenibilità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6"/>
            <p:cNvSpPr txBox="1"/>
            <p:nvPr/>
          </p:nvSpPr>
          <p:spPr>
            <a:xfrm>
              <a:off x="7105650" y="4176712"/>
              <a:ext cx="41243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Accesso al mercato del lavoro nel settore networking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6"/>
            <p:cNvSpPr txBox="1"/>
            <p:nvPr/>
          </p:nvSpPr>
          <p:spPr>
            <a:xfrm>
              <a:off x="7105650" y="4976812"/>
              <a:ext cx="41243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Soft skills: team working, problem solving, creatività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6"/>
            <p:cNvSpPr txBox="1"/>
            <p:nvPr/>
          </p:nvSpPr>
          <p:spPr>
            <a:xfrm>
              <a:off x="7105650" y="5776912"/>
              <a:ext cx="41244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Orientamento al mondo professionale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image.png" id="329" name="Google Shape;329;p2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772275" y="2124075"/>
              <a:ext cx="152400" cy="180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330" name="Google Shape;330;p2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772275" y="2924175"/>
              <a:ext cx="152400" cy="180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331" name="Google Shape;331;p2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772275" y="3724275"/>
              <a:ext cx="152400" cy="180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332" name="Google Shape;332;p2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772275" y="4219575"/>
              <a:ext cx="152400" cy="180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333" name="Google Shape;333;p2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772275" y="5019675"/>
              <a:ext cx="152400" cy="180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334" name="Google Shape;334;p2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772275" y="5819775"/>
              <a:ext cx="152400" cy="180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5" name="Google Shape;335;p26"/>
          <p:cNvSpPr txBox="1"/>
          <p:nvPr/>
        </p:nvSpPr>
        <p:spPr>
          <a:xfrm>
            <a:off x="571500" y="272538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Riepilogo del </a:t>
            </a:r>
            <a:r>
              <a:rPr b="0" i="0" lang="en-US" sz="330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Percorso FSL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6"/>
          <p:cNvSpPr/>
          <p:nvPr/>
        </p:nvSpPr>
        <p:spPr>
          <a:xfrm>
            <a:off x="571500" y="910793"/>
            <a:ext cx="110490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